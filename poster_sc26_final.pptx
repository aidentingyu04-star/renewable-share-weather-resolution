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5"/>
    <p:restoredTop sz="94660"/>
  </p:normalViewPr>
  <p:slideViewPr>
    <p:cSldViewPr snapToGrid="0">
      <p:cViewPr>
        <p:scale>
          <a:sx n="47" d="100"/>
          <a:sy n="47" d="100"/>
        </p:scale>
        <p:origin x="1112" y="-3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582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576059" y="3695700"/>
            <a:ext cx="35112962" cy="80086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24498300" y="11704319"/>
            <a:ext cx="17190720" cy="212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31196741" y="30386328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openai.com/codex/" TargetMode="External"/><Relationship Id="rId11" Type="http://schemas.openxmlformats.org/officeDocument/2006/relationships/image" Target="../media/image6.png"/><Relationship Id="rId5" Type="http://schemas.openxmlformats.org/officeDocument/2006/relationships/hyperlink" Target="https://globalenergymonitor.org/" TargetMode="External"/><Relationship Id="rId15" Type="http://schemas.openxmlformats.org/officeDocument/2006/relationships/image" Target="../media/image10.png"/><Relationship Id="rId10" Type="http://schemas.openxmlformats.org/officeDocument/2006/relationships/image" Target="../media/image5.jpeg"/><Relationship Id="rId4" Type="http://schemas.openxmlformats.org/officeDocument/2006/relationships/hyperlink" Target="https://www.energy-charts.info/" TargetMode="External"/><Relationship Id="rId9" Type="http://schemas.openxmlformats.org/officeDocument/2006/relationships/image" Target="../media/image4.jpeg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6"/>
          <p:cNvSpPr/>
          <p:nvPr/>
        </p:nvSpPr>
        <p:spPr>
          <a:xfrm>
            <a:off x="29040357" y="21309035"/>
            <a:ext cx="14390580" cy="7990279"/>
          </a:xfrm>
          <a:prstGeom prst="roundRect">
            <a:avLst>
              <a:gd name="adj" fmla="val 2879"/>
            </a:avLst>
          </a:prstGeom>
          <a:solidFill>
            <a:srgbClr val="FFFFFF"/>
          </a:solidFill>
          <a:ln w="63500">
            <a:solidFill>
              <a:schemeClr val="accent6">
                <a:satOff val="-3457"/>
                <a:lumOff val="13039"/>
              </a:schemeClr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1" name="Shape 6"/>
          <p:cNvSpPr/>
          <p:nvPr/>
        </p:nvSpPr>
        <p:spPr>
          <a:xfrm>
            <a:off x="29010988" y="10449273"/>
            <a:ext cx="14390582" cy="10236008"/>
          </a:xfrm>
          <a:prstGeom prst="roundRect">
            <a:avLst>
              <a:gd name="adj" fmla="val 1596"/>
            </a:avLst>
          </a:prstGeom>
          <a:solidFill>
            <a:srgbClr val="FFFFFF"/>
          </a:solidFill>
          <a:ln w="63500">
            <a:solidFill>
              <a:schemeClr val="accent6">
                <a:satOff val="-3457"/>
                <a:lumOff val="13039"/>
              </a:schemeClr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2" name="Shape 6"/>
          <p:cNvSpPr/>
          <p:nvPr/>
        </p:nvSpPr>
        <p:spPr>
          <a:xfrm>
            <a:off x="11501818" y="17204686"/>
            <a:ext cx="17001409" cy="15448281"/>
          </a:xfrm>
          <a:prstGeom prst="roundRect">
            <a:avLst>
              <a:gd name="adj" fmla="val 1529"/>
            </a:avLst>
          </a:prstGeom>
          <a:solidFill>
            <a:srgbClr val="FFFFFF"/>
          </a:solidFill>
          <a:ln w="63500">
            <a:solidFill>
              <a:schemeClr val="accent6">
                <a:satOff val="-3457"/>
                <a:lumOff val="13039"/>
              </a:schemeClr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3" name="Shape 6"/>
          <p:cNvSpPr/>
          <p:nvPr/>
        </p:nvSpPr>
        <p:spPr>
          <a:xfrm>
            <a:off x="11581155" y="3784167"/>
            <a:ext cx="16948803" cy="12858815"/>
          </a:xfrm>
          <a:prstGeom prst="roundRect">
            <a:avLst>
              <a:gd name="adj" fmla="val 1819"/>
            </a:avLst>
          </a:prstGeom>
          <a:solidFill>
            <a:srgbClr val="FFFFFF"/>
          </a:solidFill>
          <a:ln w="63500">
            <a:solidFill>
              <a:schemeClr val="accent6">
                <a:satOff val="-3457"/>
                <a:lumOff val="13039"/>
              </a:schemeClr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4" name="Shape 6"/>
          <p:cNvSpPr/>
          <p:nvPr/>
        </p:nvSpPr>
        <p:spPr>
          <a:xfrm>
            <a:off x="540487" y="14142347"/>
            <a:ext cx="10577625" cy="15448281"/>
          </a:xfrm>
          <a:prstGeom prst="roundRect">
            <a:avLst>
              <a:gd name="adj" fmla="val 1297"/>
            </a:avLst>
          </a:prstGeom>
          <a:solidFill>
            <a:srgbClr val="FFFFFF"/>
          </a:solidFill>
          <a:ln w="63500">
            <a:solidFill>
              <a:schemeClr val="accent6">
                <a:satOff val="-3457"/>
                <a:lumOff val="13039"/>
              </a:schemeClr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5" name="Text 8"/>
          <p:cNvSpPr txBox="1"/>
          <p:nvPr/>
        </p:nvSpPr>
        <p:spPr>
          <a:xfrm>
            <a:off x="880834" y="14882175"/>
            <a:ext cx="9846109" cy="45858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330868" indent="-330868" defTabSz="457200">
              <a:buSzPct val="100000"/>
              <a:buChar char="•"/>
              <a:defRPr sz="2800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Two feature sets: </a:t>
            </a:r>
            <a:endParaRPr sz="2700" dirty="0"/>
          </a:p>
          <a:p>
            <a:pPr marL="617219" lvl="1" indent="-342900" defTabSz="457200">
              <a:buSzPct val="100000"/>
              <a:buFont typeface="Arial"/>
              <a:buChar char="✓"/>
              <a:defRPr sz="2000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Calendar (C): five calendar features</a:t>
            </a:r>
            <a:endParaRPr sz="2700" dirty="0"/>
          </a:p>
          <a:p>
            <a:pPr marL="617219" lvl="1" indent="-342900" defTabSz="457200">
              <a:buSzPct val="100000"/>
              <a:buFont typeface="Arial"/>
              <a:buChar char="✓"/>
              <a:defRPr sz="2000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Calendar + Weather (C+W): five calendar features + 3 weather features</a:t>
            </a:r>
            <a:endParaRPr sz="2700" dirty="0"/>
          </a:p>
          <a:p>
            <a:pPr defTabSz="457200">
              <a:defRPr sz="2700" b="1">
                <a:latin typeface="Arial"/>
                <a:ea typeface="Arial"/>
                <a:cs typeface="Arial"/>
                <a:sym typeface="Arial"/>
              </a:defRPr>
            </a:pPr>
            <a:endParaRPr sz="2700" dirty="0"/>
          </a:p>
          <a:p>
            <a:pPr marL="330868" indent="-330868" defTabSz="457200">
              <a:buSzPct val="100000"/>
              <a:buChar char="•"/>
              <a:defRPr sz="2800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Two predictions: </a:t>
            </a:r>
            <a:endParaRPr sz="2700" dirty="0"/>
          </a:p>
          <a:p>
            <a:pPr marL="617219" lvl="1" indent="-342900" defTabSz="457200">
              <a:buSzPct val="100000"/>
              <a:buFont typeface="Arial"/>
              <a:buChar char="✓"/>
              <a:defRPr sz="2000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Classification: (a) To predict whether renewable share </a:t>
            </a:r>
            <a:r>
              <a:rPr i="1" u="sng" dirty="0"/>
              <a:t>R</a:t>
            </a:r>
            <a:r>
              <a:rPr i="1" u="sng" baseline="-25000" dirty="0"/>
              <a:t>t  </a:t>
            </a:r>
            <a:r>
              <a:rPr dirty="0"/>
              <a:t>exceeds 50% of load; (b) Area Under the Curve (AUC) metric.</a:t>
            </a:r>
            <a:endParaRPr sz="2700" dirty="0"/>
          </a:p>
          <a:p>
            <a:pPr marL="617219" lvl="1" indent="-342900" defTabSz="457200">
              <a:buSzPct val="100000"/>
              <a:buFont typeface="Arial"/>
              <a:buChar char="✓"/>
              <a:defRPr sz="2000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Regression: (a) To predict the continuous renewable share </a:t>
            </a:r>
            <a:r>
              <a:rPr i="1" u="sng" dirty="0"/>
              <a:t>R</a:t>
            </a:r>
            <a:r>
              <a:rPr i="1" u="sng" baseline="-25000" dirty="0"/>
              <a:t>t</a:t>
            </a:r>
            <a:r>
              <a:rPr baseline="-25000" dirty="0"/>
              <a:t> ; </a:t>
            </a:r>
            <a:r>
              <a:rPr dirty="0"/>
              <a:t>(b) coefficient of determination R²  and Mean Absolute Error (MAE) metrics.</a:t>
            </a:r>
            <a:endParaRPr sz="2700" dirty="0"/>
          </a:p>
          <a:p>
            <a:pPr lvl="1" indent="274320" defTabSz="457200">
              <a:defRPr sz="2000" b="1">
                <a:latin typeface="Arial"/>
                <a:ea typeface="Arial"/>
                <a:cs typeface="Arial"/>
                <a:sym typeface="Arial"/>
              </a:defRPr>
            </a:pPr>
            <a:endParaRPr sz="2700" dirty="0"/>
          </a:p>
          <a:p>
            <a:pPr marL="330868" indent="-330868" defTabSz="457200">
              <a:buSzPct val="100000"/>
              <a:buChar char="•"/>
              <a:defRPr sz="2800" b="1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Weather-added gain:</a:t>
            </a:r>
            <a:endParaRPr lang="en-US" sz="2700" dirty="0"/>
          </a:p>
          <a:p>
            <a:pPr marL="617219" lvl="1" indent="-342900" defTabSz="457200">
              <a:buSzPct val="100000"/>
              <a:buFont typeface="Arial"/>
              <a:buChar char="✓"/>
              <a:defRPr sz="2000" b="1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To analyze whether </a:t>
            </a:r>
            <a:r>
              <a:rPr lang="en-US" i="1" u="sng" dirty="0"/>
              <a:t>G</a:t>
            </a:r>
            <a:r>
              <a:rPr lang="en-US" dirty="0"/>
              <a:t> increases with the wind dominance using the Pearson correlation </a:t>
            </a:r>
            <a:r>
              <a:rPr lang="en-US" i="1" u="sng" dirty="0"/>
              <a:t>r </a:t>
            </a:r>
          </a:p>
        </p:txBody>
      </p:sp>
      <p:sp>
        <p:nvSpPr>
          <p:cNvPr id="26" name="Shape 0"/>
          <p:cNvSpPr/>
          <p:nvPr/>
        </p:nvSpPr>
        <p:spPr>
          <a:xfrm>
            <a:off x="0" y="-2"/>
            <a:ext cx="43891200" cy="3343330"/>
          </a:xfrm>
          <a:prstGeom prst="rect">
            <a:avLst/>
          </a:prstGeom>
          <a:solidFill>
            <a:srgbClr val="1B5E20"/>
          </a:solidFill>
          <a:ln w="12700">
            <a:miter lim="400000"/>
          </a:ln>
          <a:effectLst>
            <a:outerShdw blurRad="101600" dist="38100" dir="5400000" rotWithShape="0">
              <a:srgbClr val="A3B8A3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7" name="Text 1"/>
          <p:cNvSpPr txBox="1"/>
          <p:nvPr/>
        </p:nvSpPr>
        <p:spPr>
          <a:xfrm>
            <a:off x="914400" y="575674"/>
            <a:ext cx="37947600" cy="101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How Much Weather Is Enough for Predicting Renewable Grid Share?</a:t>
            </a:r>
          </a:p>
        </p:txBody>
      </p:sp>
      <p:sp>
        <p:nvSpPr>
          <p:cNvPr id="28" name="Text 2"/>
          <p:cNvSpPr txBox="1"/>
          <p:nvPr/>
        </p:nvSpPr>
        <p:spPr>
          <a:xfrm>
            <a:off x="914400" y="1807945"/>
            <a:ext cx="37947600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800">
                <a:solidFill>
                  <a:srgbClr val="DDEED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Aiden Wang</a:t>
            </a:r>
            <a:r>
              <a:rPr baseline="31999"/>
              <a:t>1     </a:t>
            </a:r>
            <a:r>
              <a:t>Zhiling Lan</a:t>
            </a:r>
            <a:r>
              <a:rPr baseline="31999"/>
              <a:t>2,3     1</a:t>
            </a:r>
            <a:r>
              <a:t> Evanston Township High School, Evanston, IL     </a:t>
            </a:r>
            <a:r>
              <a:rPr baseline="31999"/>
              <a:t>2</a:t>
            </a:r>
            <a:r>
              <a:t> University of Illinois Chicago     </a:t>
            </a:r>
            <a:r>
              <a:rPr baseline="30000"/>
              <a:t>3 </a:t>
            </a:r>
            <a:r>
              <a:t>Argonne National Laboratory</a:t>
            </a:r>
          </a:p>
        </p:txBody>
      </p:sp>
      <p:sp>
        <p:nvSpPr>
          <p:cNvPr id="29" name="Text 3"/>
          <p:cNvSpPr txBox="1"/>
          <p:nvPr/>
        </p:nvSpPr>
        <p:spPr>
          <a:xfrm>
            <a:off x="914400" y="2423495"/>
            <a:ext cx="37947600" cy="296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100" i="1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SC26 Research Posters · Chicago, IL · 17–19 November 2026</a:t>
            </a:r>
          </a:p>
        </p:txBody>
      </p:sp>
      <p:grpSp>
        <p:nvGrpSpPr>
          <p:cNvPr id="32" name="Shape 4"/>
          <p:cNvGrpSpPr/>
          <p:nvPr/>
        </p:nvGrpSpPr>
        <p:grpSpPr>
          <a:xfrm>
            <a:off x="40159579" y="332702"/>
            <a:ext cx="2908664" cy="2677924"/>
            <a:chOff x="0" y="0"/>
            <a:chExt cx="2908663" cy="2677923"/>
          </a:xfrm>
        </p:grpSpPr>
        <p:sp>
          <p:nvSpPr>
            <p:cNvPr id="30" name="Rounded Rectangle"/>
            <p:cNvSpPr/>
            <p:nvPr/>
          </p:nvSpPr>
          <p:spPr>
            <a:xfrm>
              <a:off x="-1" y="0"/>
              <a:ext cx="2908665" cy="2677924"/>
            </a:xfrm>
            <a:prstGeom prst="roundRect">
              <a:avLst>
                <a:gd name="adj" fmla="val 3724"/>
              </a:avLst>
            </a:prstGeom>
            <a:solidFill>
              <a:srgbClr val="2E7D32"/>
            </a:solidFill>
            <a:ln w="25400" cap="flat">
              <a:solidFill>
                <a:srgbClr val="C8E6C9"/>
              </a:solidFill>
              <a:prstDash val="dash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3200" b="1"/>
              </a:pPr>
              <a:endParaRPr/>
            </a:p>
          </p:txBody>
        </p:sp>
        <p:sp>
          <p:nvSpPr>
            <p:cNvPr id="31" name="QR"/>
            <p:cNvSpPr txBox="1"/>
            <p:nvPr/>
          </p:nvSpPr>
          <p:spPr>
            <a:xfrm>
              <a:off x="41907" y="41908"/>
              <a:ext cx="2824847" cy="4970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 sz="3200" b="1"/>
              </a:lvl1pPr>
            </a:lstStyle>
            <a:p>
              <a:r>
                <a:t>QR </a:t>
              </a:r>
            </a:p>
          </p:txBody>
        </p:sp>
      </p:grpSp>
      <p:sp>
        <p:nvSpPr>
          <p:cNvPr id="33" name="Shape 6"/>
          <p:cNvSpPr/>
          <p:nvPr/>
        </p:nvSpPr>
        <p:spPr>
          <a:xfrm>
            <a:off x="540487" y="3784167"/>
            <a:ext cx="10577626" cy="4603697"/>
          </a:xfrm>
          <a:prstGeom prst="roundRect">
            <a:avLst>
              <a:gd name="adj" fmla="val 2309"/>
            </a:avLst>
          </a:prstGeom>
          <a:solidFill>
            <a:srgbClr val="FFFFFF"/>
          </a:solidFill>
          <a:ln w="63500">
            <a:solidFill>
              <a:schemeClr val="accent6">
                <a:satOff val="-3457"/>
                <a:lumOff val="13039"/>
              </a:schemeClr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4" name="Text 44"/>
          <p:cNvSpPr txBox="1"/>
          <p:nvPr/>
        </p:nvSpPr>
        <p:spPr>
          <a:xfrm>
            <a:off x="30456683" y="25266308"/>
            <a:ext cx="9372603" cy="45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Conclusions</a:t>
            </a:r>
          </a:p>
        </p:txBody>
      </p:sp>
      <p:sp>
        <p:nvSpPr>
          <p:cNvPr id="35" name="Shape 6"/>
          <p:cNvSpPr/>
          <p:nvPr/>
        </p:nvSpPr>
        <p:spPr>
          <a:xfrm>
            <a:off x="515076" y="9161615"/>
            <a:ext cx="10577626" cy="4309060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63500">
            <a:solidFill>
              <a:schemeClr val="accent6">
                <a:satOff val="-3457"/>
                <a:lumOff val="13039"/>
              </a:schemeClr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6" name="Text 8"/>
          <p:cNvSpPr txBox="1"/>
          <p:nvPr/>
        </p:nvSpPr>
        <p:spPr>
          <a:xfrm>
            <a:off x="805562" y="9865890"/>
            <a:ext cx="9846109" cy="3125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457200" indent="-317500" defTabSz="457200">
              <a:buSzPct val="100000"/>
              <a:buFont typeface="Times Roman"/>
              <a:buChar char="•"/>
              <a:defRPr sz="2800" b="1">
                <a:latin typeface="Arial"/>
                <a:ea typeface="Arial"/>
                <a:cs typeface="Arial"/>
                <a:sym typeface="Arial"/>
              </a:defRPr>
            </a:pPr>
            <a:r>
              <a:t>We analyzed 19 European countries from 2022 to 2026.</a:t>
            </a:r>
          </a:p>
          <a:p>
            <a:pPr defTabSz="457200">
              <a:defRPr sz="2000" b="1"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marL="457200" indent="-317500" defTabSz="457200">
              <a:buSzPct val="100000"/>
              <a:buFont typeface="Times Roman"/>
              <a:buChar char="•"/>
              <a:defRPr sz="2800" b="1">
                <a:latin typeface="Arial"/>
                <a:ea typeface="Arial"/>
                <a:cs typeface="Arial"/>
                <a:sym typeface="Arial"/>
              </a:defRPr>
            </a:pPr>
            <a:r>
              <a:t>Used 36,000–38,000 hourly </a:t>
            </a:r>
            <a:r>
              <a:rPr u="sng"/>
              <a:t>Energy-Charts</a:t>
            </a:r>
            <a:r>
              <a:t> observations per country.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800" b="1"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marL="457200" indent="-317500" defTabSz="457200">
              <a:buSzPct val="100000"/>
              <a:buFont typeface="Times Roman"/>
              <a:buChar char="•"/>
              <a:defRPr sz="2800" b="1">
                <a:latin typeface="Arial"/>
                <a:ea typeface="Arial"/>
                <a:cs typeface="Arial"/>
                <a:sym typeface="Arial"/>
              </a:defRPr>
            </a:pPr>
            <a:r>
              <a:t>Combined electricity data with </a:t>
            </a:r>
            <a:r>
              <a:rPr u="sng"/>
              <a:t>ERA5 weather</a:t>
            </a:r>
            <a:r>
              <a:t> weighted by wind and solar farm locations and capacities from </a:t>
            </a:r>
            <a:r>
              <a:rPr u="sng"/>
              <a:t>Global Energy Monitor</a:t>
            </a:r>
            <a: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Weather-added gain increased with wind dominance for all four models.…"/>
              <p:cNvSpPr txBox="1"/>
              <p:nvPr/>
            </p:nvSpPr>
            <p:spPr>
              <a:xfrm>
                <a:off x="11830577" y="15179851"/>
                <a:ext cx="16655813" cy="131565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8" tIns="45718" rIns="45718" bIns="45718">
                <a:spAutoFit/>
              </a:bodyPr>
              <a:lstStyle/>
              <a:p>
                <a:pPr marL="457200" indent="-317500" defTabSz="457200">
                  <a:buSzPct val="100000"/>
                  <a:buFont typeface="Times Roman"/>
                  <a:buChar char="•"/>
                  <a:defRPr sz="2800" b="1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Weather-added gain increased with wind dominance for all four models.</a:t>
                </a:r>
                <a:endParaRPr sz="3200"/>
              </a:p>
              <a:p>
                <a:pPr marL="457200" indent="-317500" defTabSz="457200">
                  <a:buSzPct val="100000"/>
                  <a:buFont typeface="Times Roman"/>
                  <a:buChar char="•"/>
                  <a:defRPr sz="2800" b="1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Correlations ranged from </a:t>
                </a:r>
                <a14:m>
                  <m:oMath xmlns:m="http://schemas.openxmlformats.org/officeDocument/2006/math"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=0.809</m:t>
                    </m:r>
                  </m:oMath>
                </a14:m>
                <a:r>
                  <a:t> to </a:t>
                </a:r>
                <a14:m>
                  <m:oMath xmlns:m="http://schemas.openxmlformats.org/officeDocument/2006/math"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=0.881</m:t>
                    </m:r>
                  </m:oMath>
                </a14:m>
                <a:endParaRPr/>
              </a:p>
              <a:p>
                <a:pPr marL="457200" indent="-317500" defTabSz="457200">
                  <a:buSzPct val="100000"/>
                  <a:buFont typeface="Times Roman"/>
                  <a:buChar char="•"/>
                  <a:defRPr sz="2800" b="1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The relationship used 17 grids with complete wind and solar data.</a:t>
                </a:r>
              </a:p>
            </p:txBody>
          </p:sp>
        </mc:Choice>
        <mc:Fallback>
          <p:sp>
            <p:nvSpPr>
              <p:cNvPr id="37" name="Weather-added gain increased with wind dominance for all four models.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0577" y="15179851"/>
                <a:ext cx="16655813" cy="1315657"/>
              </a:xfrm>
              <a:prstGeom prst="rect">
                <a:avLst/>
              </a:prstGeom>
              <a:blipFill>
                <a:blip r:embed="rId3"/>
                <a:stretch>
                  <a:fillRect l="-76" t="-5769" b="-1730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dding weather clearly reduced prediction errors in 14–17 of the 19 countries, depending on the model.…"/>
          <p:cNvSpPr txBox="1"/>
          <p:nvPr/>
        </p:nvSpPr>
        <p:spPr>
          <a:xfrm>
            <a:off x="11980547" y="31290276"/>
            <a:ext cx="16168007" cy="956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marL="120315" indent="-120315" defTabSz="457200">
              <a:buSzPct val="100000"/>
              <a:buChar char="•"/>
              <a:defRPr sz="3200" b="1">
                <a:latin typeface="Arial"/>
                <a:ea typeface="Arial"/>
                <a:cs typeface="Arial"/>
                <a:sym typeface="Arial"/>
              </a:defRPr>
            </a:pPr>
            <a:r>
              <a:t> </a:t>
            </a:r>
            <a:r>
              <a:rPr sz="2800"/>
              <a:t>Adding weather clearly reduced prediction errors in most countries, depending on the model.</a:t>
            </a:r>
          </a:p>
          <a:p>
            <a:pPr marL="120315" indent="-120315" defTabSz="457200">
              <a:buSzPct val="100000"/>
              <a:buChar char="•"/>
              <a:defRPr sz="2800" b="1">
                <a:latin typeface="Arial"/>
                <a:ea typeface="Arial"/>
                <a:cs typeface="Arial"/>
                <a:sym typeface="Arial"/>
              </a:defRPr>
            </a:pPr>
            <a:r>
              <a:t> Wind-heavy countries generally showed the largest and most consistent improvements.</a:t>
            </a:r>
          </a:p>
        </p:txBody>
      </p:sp>
      <p:sp>
        <p:nvSpPr>
          <p:cNvPr id="39" name="Shape 6"/>
          <p:cNvSpPr/>
          <p:nvPr/>
        </p:nvSpPr>
        <p:spPr>
          <a:xfrm>
            <a:off x="29040357" y="29980610"/>
            <a:ext cx="14390582" cy="2614424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63500">
            <a:solidFill>
              <a:schemeClr val="accent6">
                <a:satOff val="-3457"/>
                <a:lumOff val="13039"/>
              </a:schemeClr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0" name="Takeaways:…"/>
          <p:cNvSpPr txBox="1"/>
          <p:nvPr/>
        </p:nvSpPr>
        <p:spPr>
          <a:xfrm>
            <a:off x="29439173" y="30621560"/>
            <a:ext cx="13695509" cy="1907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marL="457200" indent="-457200" defTabSz="457200">
              <a:buSzPct val="100000"/>
              <a:buFont typeface="Arial"/>
              <a:buChar char="•"/>
              <a:defRPr sz="3100" b="1">
                <a:latin typeface="Arial"/>
                <a:ea typeface="Arial"/>
                <a:cs typeface="Arial"/>
                <a:sym typeface="Arial"/>
              </a:defRPr>
            </a:pPr>
            <a:r>
              <a:t>Weather improved renewable-share predictions in most countries.</a:t>
            </a:r>
          </a:p>
          <a:p>
            <a:pPr marL="457200" indent="-457200" defTabSz="457200">
              <a:buSzPct val="100000"/>
              <a:buFont typeface="Arial"/>
              <a:buChar char="•"/>
              <a:defRPr sz="3100" b="1">
                <a:latin typeface="Arial"/>
                <a:ea typeface="Arial"/>
                <a:cs typeface="Arial"/>
                <a:sym typeface="Arial"/>
              </a:defRPr>
            </a:pPr>
            <a:r>
              <a:t>Wind-heavy grids benefited most from weather data.</a:t>
            </a:r>
          </a:p>
          <a:p>
            <a:pPr marL="457200" indent="-457200" defTabSz="457200">
              <a:buSzPct val="100000"/>
              <a:buFont typeface="Arial"/>
              <a:buChar char="•"/>
              <a:defRPr sz="3100" b="1">
                <a:latin typeface="Arial"/>
                <a:ea typeface="Arial"/>
                <a:cs typeface="Arial"/>
                <a:sym typeface="Arial"/>
              </a:defRPr>
            </a:pPr>
            <a:r>
              <a:t>Coarse grids are enough: 0.5°–1° grids preserve nearly all predictive value</a:t>
            </a:r>
          </a:p>
        </p:txBody>
      </p:sp>
      <p:sp>
        <p:nvSpPr>
          <p:cNvPr id="41" name="Shape 6"/>
          <p:cNvSpPr/>
          <p:nvPr/>
        </p:nvSpPr>
        <p:spPr>
          <a:xfrm>
            <a:off x="501124" y="29899461"/>
            <a:ext cx="10656351" cy="2737194"/>
          </a:xfrm>
          <a:prstGeom prst="roundRect">
            <a:avLst>
              <a:gd name="adj" fmla="val 6229"/>
            </a:avLst>
          </a:prstGeom>
          <a:solidFill>
            <a:srgbClr val="B7D6A3"/>
          </a:solidFill>
          <a:ln w="63500">
            <a:solidFill>
              <a:schemeClr val="accent6">
                <a:satOff val="-3457"/>
                <a:lumOff val="13039"/>
              </a:schemeClr>
            </a:solidFill>
          </a:ln>
          <a:effectLst>
            <a:outerShdw blurRad="101600" dist="38100" dir="5400000" rotWithShape="0">
              <a:srgbClr val="A3B8A3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44" name="Weather-Added Gains Are Robust Across"/>
          <p:cNvGrpSpPr/>
          <p:nvPr/>
        </p:nvGrpSpPr>
        <p:grpSpPr>
          <a:xfrm>
            <a:off x="11755510" y="16991139"/>
            <a:ext cx="8780392" cy="839289"/>
            <a:chOff x="0" y="0"/>
            <a:chExt cx="8780391" cy="839288"/>
          </a:xfrm>
        </p:grpSpPr>
        <p:sp>
          <p:nvSpPr>
            <p:cNvPr id="42" name="Rounded Rectangle"/>
            <p:cNvSpPr/>
            <p:nvPr/>
          </p:nvSpPr>
          <p:spPr>
            <a:xfrm>
              <a:off x="-1" y="0"/>
              <a:ext cx="8780392" cy="839289"/>
            </a:xfrm>
            <a:prstGeom prst="roundRect">
              <a:avLst>
                <a:gd name="adj" fmla="val 44997"/>
              </a:avLst>
            </a:prstGeom>
            <a:solidFill>
              <a:schemeClr val="accent6">
                <a:lumOff val="-9568"/>
              </a:schemeClr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4000" b="1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3" name="Weather-Added Gains Are Robust"/>
            <p:cNvSpPr txBox="1"/>
            <p:nvPr/>
          </p:nvSpPr>
          <p:spPr>
            <a:xfrm>
              <a:off x="116960" y="118832"/>
              <a:ext cx="8546470" cy="60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4000" b="1">
                  <a:solidFill>
                    <a:srgbClr val="FFFFFF"/>
                  </a:solidFill>
                </a:defRPr>
              </a:lvl1pPr>
            </a:lstStyle>
            <a:p>
              <a:r>
                <a:t>Weather-Added Gains Are Robust</a:t>
              </a:r>
            </a:p>
          </p:txBody>
        </p:sp>
      </p:grpSp>
      <p:grpSp>
        <p:nvGrpSpPr>
          <p:cNvPr id="47" name="Methodology"/>
          <p:cNvGrpSpPr/>
          <p:nvPr/>
        </p:nvGrpSpPr>
        <p:grpSpPr>
          <a:xfrm>
            <a:off x="727466" y="13937811"/>
            <a:ext cx="3898270" cy="909912"/>
            <a:chOff x="0" y="0"/>
            <a:chExt cx="3898268" cy="909910"/>
          </a:xfrm>
        </p:grpSpPr>
        <p:sp>
          <p:nvSpPr>
            <p:cNvPr id="45" name="Rounded Rectangle"/>
            <p:cNvSpPr/>
            <p:nvPr/>
          </p:nvSpPr>
          <p:spPr>
            <a:xfrm>
              <a:off x="-1" y="0"/>
              <a:ext cx="3898270" cy="909911"/>
            </a:xfrm>
            <a:prstGeom prst="roundRect">
              <a:avLst>
                <a:gd name="adj" fmla="val 38501"/>
              </a:avLst>
            </a:prstGeom>
            <a:solidFill>
              <a:schemeClr val="accent6">
                <a:lumOff val="-9568"/>
              </a:schemeClr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4000" b="1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6" name="Methodology"/>
            <p:cNvSpPr txBox="1"/>
            <p:nvPr/>
          </p:nvSpPr>
          <p:spPr>
            <a:xfrm>
              <a:off x="108955" y="154144"/>
              <a:ext cx="3680359" cy="60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4000" b="1">
                  <a:solidFill>
                    <a:srgbClr val="FFFFFF"/>
                  </a:solidFill>
                </a:defRPr>
              </a:lvl1pPr>
            </a:lstStyle>
            <a:p>
              <a:r>
                <a:t>Methodology</a:t>
              </a:r>
            </a:p>
          </p:txBody>
        </p:sp>
      </p:grpSp>
      <p:grpSp>
        <p:nvGrpSpPr>
          <p:cNvPr id="50" name="Data"/>
          <p:cNvGrpSpPr/>
          <p:nvPr/>
        </p:nvGrpSpPr>
        <p:grpSpPr>
          <a:xfrm>
            <a:off x="814534" y="8921573"/>
            <a:ext cx="1691066" cy="830280"/>
            <a:chOff x="0" y="0"/>
            <a:chExt cx="1691064" cy="830278"/>
          </a:xfrm>
        </p:grpSpPr>
        <p:sp>
          <p:nvSpPr>
            <p:cNvPr id="48" name="Rounded Rectangle"/>
            <p:cNvSpPr/>
            <p:nvPr/>
          </p:nvSpPr>
          <p:spPr>
            <a:xfrm>
              <a:off x="0" y="0"/>
              <a:ext cx="1691066" cy="830279"/>
            </a:xfrm>
            <a:prstGeom prst="roundRect">
              <a:avLst>
                <a:gd name="adj" fmla="val 42194"/>
              </a:avLst>
            </a:prstGeom>
            <a:solidFill>
              <a:schemeClr val="accent6">
                <a:lumOff val="-9568"/>
              </a:schemeClr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4000" b="1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9" name="Data"/>
            <p:cNvSpPr txBox="1"/>
            <p:nvPr/>
          </p:nvSpPr>
          <p:spPr>
            <a:xfrm>
              <a:off x="108956" y="114328"/>
              <a:ext cx="1473152" cy="60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4000" b="1">
                  <a:solidFill>
                    <a:srgbClr val="FFFFFF"/>
                  </a:solidFill>
                </a:defRPr>
              </a:lvl1pPr>
            </a:lstStyle>
            <a:p>
              <a:r>
                <a:t>Data</a:t>
              </a:r>
            </a:p>
          </p:txBody>
        </p:sp>
      </p:grpSp>
      <p:grpSp>
        <p:nvGrpSpPr>
          <p:cNvPr id="53" name="Motivation &amp; Research Question"/>
          <p:cNvGrpSpPr/>
          <p:nvPr/>
        </p:nvGrpSpPr>
        <p:grpSpPr>
          <a:xfrm>
            <a:off x="760217" y="3559833"/>
            <a:ext cx="7134848" cy="909913"/>
            <a:chOff x="0" y="0"/>
            <a:chExt cx="7134847" cy="909911"/>
          </a:xfrm>
        </p:grpSpPr>
        <p:sp>
          <p:nvSpPr>
            <p:cNvPr id="51" name="Rounded Rectangle"/>
            <p:cNvSpPr/>
            <p:nvPr/>
          </p:nvSpPr>
          <p:spPr>
            <a:xfrm>
              <a:off x="0" y="0"/>
              <a:ext cx="7134848" cy="909913"/>
            </a:xfrm>
            <a:prstGeom prst="roundRect">
              <a:avLst>
                <a:gd name="adj" fmla="val 38501"/>
              </a:avLst>
            </a:prstGeom>
            <a:solidFill>
              <a:schemeClr val="accent6">
                <a:lumOff val="-9568"/>
              </a:schemeClr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4000" b="1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2" name="Research Question"/>
            <p:cNvSpPr txBox="1"/>
            <p:nvPr/>
          </p:nvSpPr>
          <p:spPr>
            <a:xfrm>
              <a:off x="108954" y="154144"/>
              <a:ext cx="6916939" cy="60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4000" b="1">
                  <a:solidFill>
                    <a:srgbClr val="FFFFFF"/>
                  </a:solidFill>
                </a:defRPr>
              </a:lvl1pPr>
            </a:lstStyle>
            <a:p>
              <a:r>
                <a:t>Research Question</a:t>
              </a:r>
            </a:p>
          </p:txBody>
        </p:sp>
      </p:grpSp>
      <p:grpSp>
        <p:nvGrpSpPr>
          <p:cNvPr id="56" name="Wind-Dominant Grids Benefit Most from Weather"/>
          <p:cNvGrpSpPr/>
          <p:nvPr/>
        </p:nvGrpSpPr>
        <p:grpSpPr>
          <a:xfrm>
            <a:off x="11875102" y="3559833"/>
            <a:ext cx="10577629" cy="830279"/>
            <a:chOff x="0" y="0"/>
            <a:chExt cx="10577627" cy="830278"/>
          </a:xfrm>
        </p:grpSpPr>
        <p:sp>
          <p:nvSpPr>
            <p:cNvPr id="54" name="Rounded Rectangle"/>
            <p:cNvSpPr/>
            <p:nvPr/>
          </p:nvSpPr>
          <p:spPr>
            <a:xfrm>
              <a:off x="-1" y="0"/>
              <a:ext cx="10577628" cy="830279"/>
            </a:xfrm>
            <a:prstGeom prst="roundRect">
              <a:avLst>
                <a:gd name="adj" fmla="val 44997"/>
              </a:avLst>
            </a:prstGeom>
            <a:solidFill>
              <a:schemeClr val="accent6">
                <a:lumOff val="-9568"/>
              </a:schemeClr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4000" b="1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5" name="Wind-Dominant Grids Benefit from Weather"/>
            <p:cNvSpPr txBox="1"/>
            <p:nvPr/>
          </p:nvSpPr>
          <p:spPr>
            <a:xfrm>
              <a:off x="115771" y="114327"/>
              <a:ext cx="10346084" cy="60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4000" b="1">
                  <a:solidFill>
                    <a:srgbClr val="FFFFFF"/>
                  </a:solidFill>
                </a:defRPr>
              </a:lvl1pPr>
            </a:lstStyle>
            <a:p>
              <a:r>
                <a:t>Wind-Dominant Grids Benefit from Weather</a:t>
              </a:r>
            </a:p>
          </p:txBody>
        </p:sp>
      </p:grpSp>
      <p:sp>
        <p:nvSpPr>
          <p:cNvPr id="57" name="Less Detailed Weather Data Still Predicts Well"/>
          <p:cNvSpPr/>
          <p:nvPr/>
        </p:nvSpPr>
        <p:spPr>
          <a:xfrm>
            <a:off x="29267208" y="10149571"/>
            <a:ext cx="11440792" cy="830278"/>
          </a:xfrm>
          <a:prstGeom prst="roundRect">
            <a:avLst>
              <a:gd name="adj" fmla="val 44997"/>
            </a:avLst>
          </a:prstGeom>
          <a:solidFill>
            <a:schemeClr val="accent6">
              <a:lumOff val="-9568"/>
            </a:schemeClr>
          </a:solidFill>
          <a:ln w="1270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60" name="Power-Plant-Weighted Weather Predicts Better"/>
          <p:cNvGrpSpPr/>
          <p:nvPr/>
        </p:nvGrpSpPr>
        <p:grpSpPr>
          <a:xfrm>
            <a:off x="29243039" y="21029507"/>
            <a:ext cx="10707151" cy="830279"/>
            <a:chOff x="0" y="0"/>
            <a:chExt cx="10707150" cy="830278"/>
          </a:xfrm>
        </p:grpSpPr>
        <p:sp>
          <p:nvSpPr>
            <p:cNvPr id="58" name="Rounded Rectangle"/>
            <p:cNvSpPr/>
            <p:nvPr/>
          </p:nvSpPr>
          <p:spPr>
            <a:xfrm>
              <a:off x="-1" y="0"/>
              <a:ext cx="10707152" cy="830279"/>
            </a:xfrm>
            <a:prstGeom prst="roundRect">
              <a:avLst>
                <a:gd name="adj" fmla="val 44997"/>
              </a:avLst>
            </a:prstGeom>
            <a:solidFill>
              <a:schemeClr val="accent6">
                <a:lumOff val="-9568"/>
              </a:schemeClr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4000" b="1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9" name="Power-Plant-Weighted Weather Predicts Better"/>
            <p:cNvSpPr txBox="1"/>
            <p:nvPr/>
          </p:nvSpPr>
          <p:spPr>
            <a:xfrm>
              <a:off x="115771" y="114327"/>
              <a:ext cx="10475607" cy="60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4000" b="1">
                  <a:solidFill>
                    <a:srgbClr val="FFFFFF"/>
                  </a:solidFill>
                </a:defRPr>
              </a:lvl1pPr>
            </a:lstStyle>
            <a:p>
              <a:r>
                <a:t>Power-Plant-Weighted Weather Predicts Better</a:t>
              </a:r>
            </a:p>
          </p:txBody>
        </p:sp>
      </p:grpSp>
      <p:grpSp>
        <p:nvGrpSpPr>
          <p:cNvPr id="63" name="Conclusions and Future Works"/>
          <p:cNvGrpSpPr/>
          <p:nvPr/>
        </p:nvGrpSpPr>
        <p:grpSpPr>
          <a:xfrm>
            <a:off x="29267208" y="29641843"/>
            <a:ext cx="5589817" cy="830280"/>
            <a:chOff x="0" y="0"/>
            <a:chExt cx="5589816" cy="830278"/>
          </a:xfrm>
        </p:grpSpPr>
        <p:sp>
          <p:nvSpPr>
            <p:cNvPr id="61" name="Rounded Rectangle"/>
            <p:cNvSpPr/>
            <p:nvPr/>
          </p:nvSpPr>
          <p:spPr>
            <a:xfrm>
              <a:off x="-1" y="0"/>
              <a:ext cx="5589818" cy="830279"/>
            </a:xfrm>
            <a:prstGeom prst="roundRect">
              <a:avLst>
                <a:gd name="adj" fmla="val 44997"/>
              </a:avLst>
            </a:prstGeom>
            <a:solidFill>
              <a:schemeClr val="accent6">
                <a:lumOff val="-9568"/>
              </a:schemeClr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4000" b="1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2" name="Conclusions"/>
            <p:cNvSpPr txBox="1"/>
            <p:nvPr/>
          </p:nvSpPr>
          <p:spPr>
            <a:xfrm>
              <a:off x="115774" y="114328"/>
              <a:ext cx="5358268" cy="60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4000" b="1">
                  <a:solidFill>
                    <a:srgbClr val="FFFFFF"/>
                  </a:solidFill>
                </a:defRPr>
              </a:lvl1pPr>
            </a:lstStyle>
            <a:p>
              <a:r>
                <a:t>Conclusions</a:t>
              </a:r>
            </a:p>
          </p:txBody>
        </p:sp>
      </p:grpSp>
      <p:sp>
        <p:nvSpPr>
          <p:cNvPr id="64" name="References:…"/>
          <p:cNvSpPr txBox="1"/>
          <p:nvPr/>
        </p:nvSpPr>
        <p:spPr>
          <a:xfrm>
            <a:off x="630373" y="30044563"/>
            <a:ext cx="10203661" cy="2446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3600" b="1">
                <a:latin typeface="Arial"/>
                <a:ea typeface="Arial"/>
                <a:cs typeface="Arial"/>
                <a:sym typeface="Arial"/>
              </a:defRPr>
            </a:pPr>
            <a:r>
              <a:t>References:</a:t>
            </a:r>
            <a:endParaRPr sz="3900"/>
          </a:p>
          <a:p>
            <a:pPr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[1] Fraunhofer Institute for Solar Energy Systems ISE, "Energy-Charts.”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https://www.energy-charts.info</a:t>
            </a:r>
            <a:r>
              <a:t>.</a:t>
            </a:r>
          </a:p>
          <a:p>
            <a:pPr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[2] H. Hersbach et al., "The ERA5 global reanalysis," Quarterly Journal of  the Royal Meteorological Society, vol. 146, no. 730, pp. 1999–2049, 2020.</a:t>
            </a:r>
          </a:p>
          <a:p>
            <a:pPr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[3] Global Energy Monitor, "Global Wind Power Tracker" and "Global Solar  Power Tracker."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/>
              </a:rPr>
              <a:t>https://globalenergymonitor.org</a:t>
            </a:r>
          </a:p>
          <a:p>
            <a:pPr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[4] F. Pedregosa et al., "Scikit-learn: Machine learning in Python," JMLR, vol. 12, pp. 2825–2830, 2011.</a:t>
            </a:r>
          </a:p>
          <a:p>
            <a:pPr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[5] G. Ke et al., "LightGBM: A highly efficient gradient boosting decision tree," NeurIPS, vol. 30, 2017.</a:t>
            </a:r>
          </a:p>
          <a:p>
            <a:pPr defTabSz="457200"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[6] OpenAI, “Codex,” AI-assisted code development, visualization, and editing, 2026.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6"/>
              </a:rPr>
              <a:t>https://openai.com/codex/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Weighting weather toward wind and solar farms usually outperformed treating all locations equally.…"/>
              <p:cNvSpPr txBox="1"/>
              <p:nvPr/>
            </p:nvSpPr>
            <p:spPr>
              <a:xfrm>
                <a:off x="29354335" y="27401834"/>
                <a:ext cx="13695509" cy="172205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8" tIns="45718" rIns="45718" bIns="45718">
                <a:spAutoFit/>
              </a:bodyPr>
              <a:lstStyle/>
              <a:p>
                <a:pPr marL="457200" indent="-457200" defTabSz="457200">
                  <a:buSzPct val="100000"/>
                  <a:buFont typeface="Arial"/>
                  <a:buChar char="•"/>
                  <a:defRPr sz="2800" b="1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Weighting weather toward wind and solar farms usually outperformed treating all locations equally.</a:t>
                </a:r>
                <a:endParaRPr sz="3200"/>
              </a:p>
              <a:p>
                <a:pPr marL="457200" indent="-457200" defTabSz="457200">
                  <a:buSzPct val="100000"/>
                  <a:buFont typeface="Arial"/>
                  <a:buChar char="•"/>
                  <a:defRPr sz="2800" b="1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Average improvements were 0.013–0.017 AUC and 0.043–0.047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t>, although some countries did not improve.</a:t>
                </a:r>
                <a:endParaRPr sz="2641"/>
              </a:p>
            </p:txBody>
          </p:sp>
        </mc:Choice>
        <mc:Fallback>
          <p:sp>
            <p:nvSpPr>
              <p:cNvPr id="65" name="Weighting weather toward wind and solar farms usually outperformed treating all locations equally.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4335" y="27401834"/>
                <a:ext cx="13695509" cy="1722057"/>
              </a:xfrm>
              <a:prstGeom prst="rect">
                <a:avLst/>
              </a:prstGeom>
              <a:blipFill>
                <a:blip r:embed="rId7"/>
                <a:stretch>
                  <a:fillRect l="-1112" t="-3650" b="-1386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6" name="15_block_bootstrap_gain_intervals.pdf" descr="15_block_bootstrap_gain_intervals.pd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94086" y="17963058"/>
            <a:ext cx="16689377" cy="130045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Picture 7" descr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6637" y="20766976"/>
            <a:ext cx="8637749" cy="249301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Picture 9" descr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64872" y="19696801"/>
            <a:ext cx="6303001" cy="905406"/>
          </a:xfrm>
          <a:prstGeom prst="rect">
            <a:avLst/>
          </a:prstGeom>
          <a:ln w="12700">
            <a:miter lim="400000"/>
          </a:ln>
        </p:spPr>
      </p:pic>
      <p:sp>
        <p:nvSpPr>
          <p:cNvPr id="69" name="Shape 6"/>
          <p:cNvSpPr/>
          <p:nvPr/>
        </p:nvSpPr>
        <p:spPr>
          <a:xfrm>
            <a:off x="28992999" y="3742761"/>
            <a:ext cx="14390581" cy="6082758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63500">
            <a:solidFill>
              <a:schemeClr val="accent6">
                <a:satOff val="-3457"/>
                <a:lumOff val="13039"/>
              </a:schemeClr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72" name="Power-Plant-Weighted Weather Predicts Better"/>
          <p:cNvGrpSpPr/>
          <p:nvPr/>
        </p:nvGrpSpPr>
        <p:grpSpPr>
          <a:xfrm>
            <a:off x="29276597" y="3446176"/>
            <a:ext cx="9585406" cy="830279"/>
            <a:chOff x="0" y="0"/>
            <a:chExt cx="9585404" cy="830278"/>
          </a:xfrm>
        </p:grpSpPr>
        <p:sp>
          <p:nvSpPr>
            <p:cNvPr id="70" name="Rounded Rectangle"/>
            <p:cNvSpPr/>
            <p:nvPr/>
          </p:nvSpPr>
          <p:spPr>
            <a:xfrm>
              <a:off x="0" y="0"/>
              <a:ext cx="9585405" cy="830279"/>
            </a:xfrm>
            <a:prstGeom prst="roundRect">
              <a:avLst>
                <a:gd name="adj" fmla="val 44997"/>
              </a:avLst>
            </a:prstGeom>
            <a:solidFill>
              <a:schemeClr val="accent6">
                <a:lumOff val="-9568"/>
              </a:schemeClr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4000" b="1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1" name="Wind- vs Solar-Dominant Systems"/>
            <p:cNvSpPr txBox="1"/>
            <p:nvPr/>
          </p:nvSpPr>
          <p:spPr>
            <a:xfrm>
              <a:off x="115772" y="114327"/>
              <a:ext cx="9353860" cy="60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4000" b="1">
                  <a:solidFill>
                    <a:srgbClr val="FFFFFF"/>
                  </a:solidFill>
                </a:defRPr>
              </a:lvl1pPr>
            </a:lstStyle>
            <a:p>
              <a:r>
                <a:t>Wind- vs Solar-Dominant Systems</a:t>
              </a:r>
            </a:p>
          </p:txBody>
        </p:sp>
      </p:grpSp>
      <p:sp>
        <p:nvSpPr>
          <p:cNvPr id="73" name="Weighting weather toward wind and solar farms usually outperformed treating all locations equally.…"/>
          <p:cNvSpPr txBox="1"/>
          <p:nvPr/>
        </p:nvSpPr>
        <p:spPr>
          <a:xfrm>
            <a:off x="29459442" y="4479797"/>
            <a:ext cx="5352751" cy="5083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marL="457200" indent="-457200" defTabSz="457200">
              <a:buSzPct val="100000"/>
              <a:buFont typeface="Arial"/>
              <a:buChar char="•"/>
              <a:defRPr sz="2800" b="1">
                <a:latin typeface="Arial"/>
                <a:ea typeface="Arial"/>
                <a:cs typeface="Arial"/>
                <a:sym typeface="Arial"/>
              </a:defRPr>
            </a:pPr>
            <a:r>
              <a:t>Study countries colored by wind minus solar share of load. </a:t>
            </a:r>
          </a:p>
          <a:p>
            <a:pPr defTabSz="457200">
              <a:defRPr sz="3200" b="1"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marL="457200" indent="-457200" defTabSz="457200">
              <a:buSzPct val="100000"/>
              <a:buFont typeface="Arial"/>
              <a:buChar char="•"/>
              <a:defRPr sz="2800" b="1">
                <a:latin typeface="Arial"/>
                <a:ea typeface="Arial"/>
                <a:cs typeface="Arial"/>
                <a:sym typeface="Arial"/>
              </a:defRPr>
            </a:pPr>
            <a:r>
              <a:t>Wind-dominant systems appear dark blue; Solar-dominant systems appear in warm tones. </a:t>
            </a:r>
          </a:p>
          <a:p>
            <a:pPr defTabSz="457200">
              <a:defRPr sz="3200" b="1"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marL="457200" indent="-457200" defTabSz="457200">
              <a:buSzPct val="100000"/>
              <a:buFont typeface="Arial"/>
              <a:buChar char="•"/>
              <a:defRPr sz="2800" b="1">
                <a:latin typeface="Arial"/>
                <a:ea typeface="Arial"/>
                <a:cs typeface="Arial"/>
                <a:sym typeface="Arial"/>
              </a:defRPr>
            </a:pPr>
            <a:r>
              <a:t>Ireland and Serbia lack solar observations and are marked unavailable.</a:t>
            </a:r>
          </a:p>
        </p:txBody>
      </p:sp>
      <p:pic>
        <p:nvPicPr>
          <p:cNvPr id="74" name="09_capacity_weighting_advantage.pdf" descr="09_capacity_weighting_advantage.pd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696885" y="21988960"/>
            <a:ext cx="13180087" cy="5136227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07_gain_vs_wind_minus_solar.pdf" descr="07_gain_vs_wind_minus_solar.pdf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29953" y="4644063"/>
            <a:ext cx="15946864" cy="10107556"/>
          </a:xfrm>
          <a:prstGeom prst="rect">
            <a:avLst/>
          </a:prstGeom>
          <a:ln w="12700">
            <a:miter lim="400000"/>
          </a:ln>
        </p:spPr>
      </p:pic>
      <p:sp>
        <p:nvSpPr>
          <p:cNvPr id="76" name="Coarser weather grids reduce HPC storage, data movement, and processing costs.…"/>
          <p:cNvSpPr txBox="1"/>
          <p:nvPr/>
        </p:nvSpPr>
        <p:spPr>
          <a:xfrm>
            <a:off x="741222" y="4689396"/>
            <a:ext cx="10327719" cy="3416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marL="514350" indent="-514350" defTabSz="457200">
              <a:spcAft>
                <a:spcPts val="1200"/>
              </a:spcAft>
              <a:buSzPct val="100000"/>
              <a:buFont typeface="+mj-lt"/>
              <a:buAutoNum type="arabicPeriod"/>
              <a:defRPr sz="2800" b="1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How much accuracy ERA5 wind, radiation, and temperature add beyond calendar features; </a:t>
            </a:r>
          </a:p>
          <a:p>
            <a:pPr marL="514350" indent="-514350" defTabSz="457200">
              <a:spcAft>
                <a:spcPts val="1200"/>
              </a:spcAft>
              <a:buSzPct val="100000"/>
              <a:buFont typeface="+mj-lt"/>
              <a:buAutoNum type="arabicPeriod"/>
              <a:defRPr sz="2800" b="1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Whether this gain is predictable from a grid’s wind-versus-solar mix;</a:t>
            </a:r>
          </a:p>
          <a:p>
            <a:pPr marL="514350" indent="-514350" defTabSz="457200">
              <a:spcAft>
                <a:spcPts val="1200"/>
              </a:spcAft>
              <a:buSzPct val="100000"/>
              <a:buFont typeface="+mj-lt"/>
              <a:buAutoNum type="arabicPeriod"/>
              <a:defRPr sz="2800" b="1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How far resolution can be coarsened, and whether weighting cells toward mapped generation facilities matters more than grid fineness.</a:t>
            </a:r>
            <a:endParaRPr dirty="0"/>
          </a:p>
        </p:txBody>
      </p:sp>
      <p:pic>
        <p:nvPicPr>
          <p:cNvPr id="77" name="pipeline.pdf" descr="pipeline.pdf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1684" y="23540527"/>
            <a:ext cx="10343179" cy="5818040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figure2_country_map.pdf" descr="figure2_country_map.pdf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223679" y="4379302"/>
            <a:ext cx="7134848" cy="51144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12_compute_fidelity_frontier.pdf" descr="12_compute_fidelity_frontier.pdf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913547" y="11323631"/>
            <a:ext cx="11776160" cy="7876047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Coarser Weather Grids Preserve Accuracy"/>
          <p:cNvSpPr txBox="1"/>
          <p:nvPr/>
        </p:nvSpPr>
        <p:spPr>
          <a:xfrm>
            <a:off x="29627679" y="10229574"/>
            <a:ext cx="10719853" cy="646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Coarser Weather Grids Preserve Accuracy</a:t>
            </a:r>
          </a:p>
        </p:txBody>
      </p:sp>
      <p:sp>
        <p:nvSpPr>
          <p:cNvPr id="81" name="Moderate coarsening maintained nearly the same prediction quality while reducing weather data processed from 100% at 0.25° to 25.9% at 0.5° and 7.0% at 1°."/>
          <p:cNvSpPr txBox="1"/>
          <p:nvPr/>
        </p:nvSpPr>
        <p:spPr>
          <a:xfrm>
            <a:off x="29240481" y="19475059"/>
            <a:ext cx="14082416" cy="8926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2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Moderate coarsening maintained nearly the same prediction quality while reducing weather data processed from 100% at 0.25° to 25.9% at 0.5° and 7.0% at 1°.</a:t>
            </a:r>
          </a:p>
        </p:txBody>
      </p:sp>
      <p:sp>
        <p:nvSpPr>
          <p:cNvPr id="82" name="Rounded Rectangle"/>
          <p:cNvSpPr/>
          <p:nvPr/>
        </p:nvSpPr>
        <p:spPr>
          <a:xfrm>
            <a:off x="5169627" y="29904478"/>
            <a:ext cx="5984047" cy="619618"/>
          </a:xfrm>
          <a:prstGeom prst="roundRect">
            <a:avLst>
              <a:gd name="adj" fmla="val 30745"/>
            </a:avLst>
          </a:prstGeom>
          <a:solidFill>
            <a:srgbClr val="B7D6A3"/>
          </a:solidFill>
          <a:ln w="63500">
            <a:solidFill>
              <a:schemeClr val="accent6">
                <a:satOff val="-3457"/>
                <a:lumOff val="13039"/>
              </a:schemeClr>
            </a:solidFill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83" name="AI disclosure: OpenAI Codex assisted with code, figures, and editing. All results and conclusions were verified by the authors."/>
          <p:cNvSpPr txBox="1"/>
          <p:nvPr/>
        </p:nvSpPr>
        <p:spPr>
          <a:xfrm>
            <a:off x="5239344" y="29954816"/>
            <a:ext cx="6047546" cy="541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defTabSz="457200">
              <a:defRPr sz="1600" b="1">
                <a:latin typeface="Arial"/>
                <a:ea typeface="Arial"/>
                <a:cs typeface="Arial"/>
                <a:sym typeface="Arial"/>
              </a:defRPr>
            </a:pPr>
            <a:r>
              <a:t>AI disclosure</a:t>
            </a:r>
            <a:r>
              <a:rPr b="0"/>
              <a:t>: OpenAI Codex assisted with code, figures, and editing. All results and conclusions were verified by the authors.</a:t>
            </a:r>
          </a:p>
        </p:txBody>
      </p:sp>
      <p:pic>
        <p:nvPicPr>
          <p:cNvPr id="84" name="poster_qr_github.png" descr="poster_qr_github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159579" y="242095"/>
            <a:ext cx="2908663" cy="29086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</Words>
  <Application>Microsoft Macintosh PowerPoint</Application>
  <PresentationFormat>Custom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Times Roman</vt:lpstr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Lan, Zhiling</cp:lastModifiedBy>
  <cp:revision>1</cp:revision>
  <dcterms:modified xsi:type="dcterms:W3CDTF">2026-07-27T17:24:09Z</dcterms:modified>
</cp:coreProperties>
</file>